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073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10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993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uk/guidance/accessibility-requirements-for-public-sector-websites-and-app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gov.uk/government/publications/public-sector-equality-duty-guidance-for-public-authorities/public-sector-equality-duty-guidance-for-public-authoritie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accessibility@justice.gov.uk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sign-system.service.gov.uk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cription.service.justice.gov.uk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ave.webaim.org/extensio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docs/pages/api-reference/config/eslin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npmjs.com/package/eslint-plugin-jsx-a11y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wright.dev/docs/accessibility-testin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npmjs.com/package/@axe-core/playwrigh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-leyshon/accessibility-exercis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uk/guidance/accessibility-requirements-for-public-sector-websites-and-app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2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394960"/>
            <a:ext cx="12191695" cy="73152"/>
          </a:xfrm>
          <a:prstGeom prst="rect">
            <a:avLst/>
          </a:pr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Minimal a11y standards</a:t>
            </a:r>
            <a:endParaRPr lang="en-US" sz="4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our digital products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6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1-hour intern session • Duty → rubric → checks → tools → practical task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5760720" cy="502920"/>
          </a:xfrm>
          <a:prstGeom prst="roundRect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39136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a11y = accessibility (a + 11 letters + y)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715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 Leyshon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64008"/>
          </a:xfrm>
          <a:prstGeom prst="rect">
            <a:avLst/>
          </a:pr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for the hour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Minimal a11y standards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005840"/>
            <a:ext cx="4754880" cy="384048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1078992"/>
            <a:ext cx="4425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Our duty (gov)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508760"/>
            <a:ext cx="6400800" cy="384048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1581912"/>
            <a:ext cx="6071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Manual checks + WAVE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011680"/>
            <a:ext cx="9052560" cy="384048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" y="2084832"/>
            <a:ext cx="8723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Automated checks (lint + Playwright/axe)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514600"/>
            <a:ext cx="4389120" cy="384048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87552" y="2587752"/>
            <a:ext cx="4059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Practical task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2461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Aim: fast, repeatable habits that prevent accessibility regressions.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68680" y="397764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We’ll use a rubric: legal minimum vs good practice in UK gov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We’ll demo quick checks on real sites (keyboard + WAVE)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We’ll show how to keep fixes from drifting (CI guardrails)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64008"/>
          </a:xfrm>
          <a:prstGeom prst="rect">
            <a:avLst/>
          </a:pr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Our duty as a public body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Minimal a11y standards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Anchor guidance: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Accessibility requirements for public sector websites and apps (GOV.UK)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10607040" cy="109728"/>
          </a:xfrm>
          <a:prstGeom prst="round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 (practical):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serve everyone — staff and the public — including disabled users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reduces risk: complaints, rework, delays, and reputational harm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fixes are cheap early and expensive late — build it in as a default</a:t>
            </a:r>
          </a:p>
          <a:p>
            <a:pPr marL="228600" indent="-228600">
              <a:buSzPct val="100000"/>
              <a:buChar char="•"/>
            </a:pPr>
            <a:endParaRPr lang="en-US" dirty="0">
              <a:solidFill>
                <a:srgbClr val="111827"/>
              </a:solidFill>
              <a:latin typeface="Aptos" pitchFamily="34" charset="0"/>
            </a:endParaRPr>
          </a:p>
          <a:p>
            <a:pPr marL="228600" indent="-228600">
              <a:buSzPct val="100000"/>
              <a:buChar char="•"/>
            </a:pPr>
            <a:endParaRPr lang="en-US" sz="1800" dirty="0">
              <a:solidFill>
                <a:srgbClr val="111827"/>
              </a:solidFill>
              <a:latin typeface="Aptos" pitchFamily="34" charset="0"/>
            </a:endParaRPr>
          </a:p>
          <a:p>
            <a:pPr marL="228600" indent="-228600">
              <a:buSzPct val="100000"/>
              <a:buChar char="•"/>
            </a:pPr>
            <a:r>
              <a:rPr lang="en-US" b="1" dirty="0">
                <a:solidFill>
                  <a:srgbClr val="111827"/>
                </a:solidFill>
                <a:latin typeface="Aptos" pitchFamily="34" charset="0"/>
              </a:rPr>
              <a:t>More guidance:</a:t>
            </a:r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hlinkClick r:id="rId4"/>
              </a:rPr>
              <a:t>Public Sector Equality Duty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623560"/>
            <a:ext cx="10607040" cy="685800"/>
          </a:xfrm>
          <a:prstGeom prst="roundRect">
            <a:avLst/>
          </a:prstGeom>
          <a:solidFill>
            <a:srgbClr val="E8F7F6"/>
          </a:solidFill>
          <a:ln w="12700">
            <a:solidFill>
              <a:srgbClr val="9DDD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of thumb: treat WCAG 2.2 AA as the baseline for new work; document known gaps and a plan to fix.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64008"/>
          </a:xfrm>
          <a:prstGeom prst="rect">
            <a:avLst/>
          </a:pr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Rubric: legal minimum vs good practice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Minimal a11y standards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477951"/>
              </p:ext>
            </p:extLst>
          </p:nvPr>
        </p:nvGraphicFramePr>
        <p:xfrm>
          <a:off x="685800" y="1051560"/>
          <a:ext cx="10835640" cy="46177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Aspect</a:t>
                      </a:r>
                      <a:endParaRPr lang="en-US" sz="12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Absolute legal minimum (public sector)</a:t>
                      </a:r>
                      <a:endParaRPr lang="en-US" sz="12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Better / common good practice (UK gov)</a:t>
                      </a:r>
                      <a:endParaRPr lang="en-US" sz="12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Accessibility standard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Aim for WCAG 2.2 AA; justify any gaps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WCAG 2.2 AA baseline for all new work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Accessibility statement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Single compliant statement; regularly reviewed, </a:t>
                      </a: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  <a:hlinkClick r:id="rId3"/>
                        </a:rPr>
                        <a:t>Digital accessibility team</a:t>
                      </a: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can help you draft.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Service/product-specific; linked from every page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Some evidence of testing; fix critical blockers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Automated + manual + AT testing; include disabled users in research (</a:t>
                      </a: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  <a:hlinkClick r:id="rId4"/>
                        </a:rPr>
                        <a:t>The GDS </a:t>
                      </a: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does this well)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Handling known issues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Document non-compliance + any disproportionate burden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Roadmap with owners + dates (tracked work items)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Reasonable adjustments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Respond to requests; provide alternatives where reasonable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Proactive alternatives + assisted digital support routes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7724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to guide: what must exist today, and what ‘good’ looks like for new work.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64008"/>
          </a:xfrm>
          <a:prstGeom prst="rect">
            <a:avLst/>
          </a:pr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Manual checks (keyboard-first)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Minimal a11y standards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5-minute habit: keyboard-only pass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Try: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https://transcription.service.justice.gov.uk/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6060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 / Shift+Tab through everything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you operate all controls with Enter/Space?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focus always visible?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you know where you are and what happens next?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92240" y="1600200"/>
            <a:ext cx="49377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66560" y="18745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‘good’ looks like: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20840" y="224028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tab order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keyboard traps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labels + instructions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 announced + easy to fix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focus indicator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64008"/>
          </a:xfrm>
          <a:prstGeom prst="rect">
            <a:avLst/>
          </a:pr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WAVE: quick triage tool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Minimal a11y standards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Install the WAVE extension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https://wave.webaim.org/extension/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965960"/>
            <a:ext cx="106070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targets: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blog: https://thedatasavvycorner.com/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errors ‘in the wild’: https://cursor.com/docs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7033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focus on (high-signal):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4023360"/>
            <a:ext cx="9966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form labels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 errors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Heading / landmark structure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text (avoid ‘click here’)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6263640"/>
            <a:ext cx="10607040" cy="502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638251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WAVE helps spot issues fast, but it can’t prove full accessibility on its own.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64008"/>
          </a:xfrm>
          <a:prstGeom prst="rect">
            <a:avLst/>
          </a:pr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Automated checks: linting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Minimal a11y standards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9601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Next.js a11y linting (PR-time guardrail)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1645920"/>
            <a:ext cx="10607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Quickstart links: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Next.js ESLint setup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eslint-plugin-jsx-a11y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749040"/>
            <a:ext cx="106070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9776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linting catches early: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297680"/>
            <a:ext cx="9966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alt text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or misused ARIA attributes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handlers on non-interactive elements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label / control association mistakes</a:t>
            </a:r>
          </a:p>
          <a:p>
            <a:pPr marL="203200" indent="-203200">
              <a:buSzPct val="100000"/>
              <a:buChar char="•"/>
            </a:pPr>
            <a:endParaRPr lang="en-US" sz="1600" dirty="0">
              <a:solidFill>
                <a:srgbClr val="111827"/>
              </a:solidFill>
              <a:latin typeface="Aptos" pitchFamily="34" charset="0"/>
            </a:endParaRPr>
          </a:p>
          <a:p>
            <a:pPr>
              <a:buSzPct val="100000"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Limitations: </a:t>
            </a:r>
            <a:r>
              <a:rPr lang="en-US" sz="16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Static code analysis only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64008"/>
          </a:xfrm>
          <a:prstGeom prst="rect">
            <a:avLst/>
          </a:pr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Automated checks: Playwright + axe-core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Minimal a11y standards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9601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for regressions in deployed services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1645920"/>
            <a:ext cx="10607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Quickstart links: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Playwright accessibility testing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@axe-core/playwright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106070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406908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to use: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38912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axe checks against key pages (happy path + critical flows)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on every PR (preview) and/or on deploy to staging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the build on new serious/critical violations</a:t>
            </a:r>
          </a:p>
          <a:p>
            <a:pPr marL="203200" indent="-203200">
              <a:buSzPct val="100000"/>
              <a:buChar char="•"/>
            </a:pPr>
            <a:endParaRPr lang="en-US" sz="1600" dirty="0">
              <a:solidFill>
                <a:srgbClr val="111827"/>
              </a:solidFill>
              <a:latin typeface="Aptos" pitchFamily="34" charset="0"/>
            </a:endParaRPr>
          </a:p>
          <a:p>
            <a:pPr marL="203200" indent="-203200">
              <a:buSzPct val="100000"/>
              <a:buChar char="•"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6263640"/>
            <a:ext cx="10607040" cy="502920"/>
          </a:xfrm>
          <a:prstGeom prst="roundRect">
            <a:avLst/>
          </a:prstGeom>
          <a:solidFill>
            <a:srgbClr val="E8F7F6"/>
          </a:solidFill>
          <a:ln w="12700">
            <a:solidFill>
              <a:srgbClr val="9DDD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638251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is a guardrail: pair it with manual keyboard checks and (when possible) assistive tech testing.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64008"/>
          </a:xfrm>
          <a:prstGeom prst="rect">
            <a:avLst/>
          </a:pr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Practical task (10 mins)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Minimal a11y standards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9601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Improve UI accessibility in the exercise repo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1645920"/>
            <a:ext cx="10607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74520" y="1874520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https://github.com/r-leyshon/accessibility-exercise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52120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38328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AutoNum type="arabicPeriod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</a:rPr>
              <a:t>Clone to local and improve the UI (as much as you like)</a:t>
            </a:r>
          </a:p>
          <a:p>
            <a:pPr marL="342900" indent="-342900">
              <a:buSzPct val="100000"/>
              <a:buAutoNum type="arabicPeriod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</a:rPr>
              <a:t>Work in a branch with a name like ‘access-audit/&lt;your-</a:t>
            </a:r>
            <a:r>
              <a:rPr lang="en-US" sz="1600" dirty="0" err="1">
                <a:solidFill>
                  <a:srgbClr val="111827"/>
                </a:solidFill>
                <a:latin typeface="Aptos" pitchFamily="34" charset="0"/>
              </a:rPr>
              <a:t>github</a:t>
            </a:r>
            <a:r>
              <a:rPr lang="en-US" sz="1600" dirty="0">
                <a:solidFill>
                  <a:srgbClr val="111827"/>
                </a:solidFill>
                <a:latin typeface="Aptos" pitchFamily="34" charset="0"/>
              </a:rPr>
              <a:t>-username&gt;’</a:t>
            </a:r>
          </a:p>
          <a:p>
            <a:pPr marL="342900" indent="-342900">
              <a:buSzPct val="100000"/>
              <a:buAutoNum type="arabicPeriod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</a:rPr>
              <a:t>Open a PR, this will trigger a deploy to </a:t>
            </a:r>
            <a:r>
              <a:rPr lang="en-US" sz="1600" dirty="0" err="1">
                <a:solidFill>
                  <a:srgbClr val="111827"/>
                </a:solidFill>
                <a:latin typeface="Aptos" pitchFamily="34" charset="0"/>
              </a:rPr>
              <a:t>Vercel</a:t>
            </a:r>
            <a:r>
              <a:rPr lang="en-US" sz="1600" dirty="0">
                <a:solidFill>
                  <a:srgbClr val="111827"/>
                </a:solidFill>
                <a:latin typeface="Aptos" pitchFamily="34" charset="0"/>
              </a:rPr>
              <a:t> and an automated accessibility check.</a:t>
            </a:r>
          </a:p>
          <a:p>
            <a:pPr marL="342900" indent="-342900">
              <a:buSzPct val="100000"/>
              <a:buAutoNum type="arabicPeriod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</a:rPr>
              <a:t>Once the accessibility check is complete, a comment will be added to your PR with a link to your site.</a:t>
            </a:r>
          </a:p>
          <a:p>
            <a:pPr marL="342900" indent="-342900">
              <a:buSzPct val="100000"/>
              <a:buAutoNum type="arabicPeriod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</a:rPr>
              <a:t>See if you can ‘catch </a:t>
            </a:r>
            <a:r>
              <a:rPr lang="en-US" sz="1600" dirty="0" err="1">
                <a:solidFill>
                  <a:srgbClr val="111827"/>
                </a:solidFill>
                <a:latin typeface="Aptos" pitchFamily="34" charset="0"/>
              </a:rPr>
              <a:t>em</a:t>
            </a:r>
            <a:r>
              <a:rPr lang="en-US" sz="1600" dirty="0">
                <a:solidFill>
                  <a:srgbClr val="111827"/>
                </a:solidFill>
                <a:latin typeface="Aptos" pitchFamily="34" charset="0"/>
              </a:rPr>
              <a:t> all’.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2834640"/>
            <a:ext cx="52120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3063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‘easy wins’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338328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missing form labels / error association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real &lt;button&gt; / &lt;a&gt; instead of clickable divs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 visible focus styles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heading order / add landmarks (main/nav)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= one small improvement shipped with evidence (before/after WAVE + a keyboard pass).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91695" cy="64008"/>
          </a:xfrm>
          <a:prstGeom prst="rect">
            <a:avLst/>
          </a:prstGeom>
          <a:solidFill>
            <a:srgbClr val="00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Wrap-up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Minimal a11y standards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habits to keep (proportionate to the job)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1060704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737360" y="22402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duty + the rubric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6060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what must exist today vs what good looks like for new work.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737360" y="3154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Keyboard-first manual checks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5204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 through critical journeys; fix focus/labels/structure early.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737360" y="40690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 regressions away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44348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Lint + Playwright/axe in CI so fixes don’t drift.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5669280"/>
            <a:ext cx="10607040" cy="960120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97280" y="5806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link: GOV.UK public sector accessibility requirements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60533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B6F2E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https://www.gov.uk/guidance/accessibility-requirements-for-public-sector-websites-and-apps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970</Words>
  <Application>Microsoft Macintosh PowerPoint</Application>
  <PresentationFormat>Widescreen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UK Ministry of Justice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Minimal a11y standards (1 hour)</dc:subject>
  <dc:creator>Rich Leyshon (MoJ) — generated with ChatGPT</dc:creator>
  <cp:lastModifiedBy>Richard Leyshon</cp:lastModifiedBy>
  <cp:revision>9</cp:revision>
  <dcterms:created xsi:type="dcterms:W3CDTF">2026-03-05T11:01:07Z</dcterms:created>
  <dcterms:modified xsi:type="dcterms:W3CDTF">2026-03-06T09:01:11Z</dcterms:modified>
</cp:coreProperties>
</file>